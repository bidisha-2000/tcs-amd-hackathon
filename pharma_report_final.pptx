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457200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Pharmaceutical Portfolio</a:t>
            </a:r>
            <a:br/>
            <a:r>
              <a:t>Intelligence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ptos"/>
              </a:defRPr>
            </a:pPr>
            <a:r>
              <a:t>AI-Powered Portfolio Risk Assessment, Optimization &amp; Strategic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8BDF8"/>
                </a:solidFill>
              </a:rPr>
              <a:t>OBJECTIVE: </a:t>
            </a:r>
            <a:r>
              <a:rPr sz="1100">
                <a:solidFill>
                  <a:srgbClr val="94A3B8"/>
                </a:solidFill>
              </a:rPr>
              <a:t>Identify structural concentration vulnerabilities, prioritize growth vectors, neutralize risk elements, and formulate boardroom-ready insights for strategic operational execution.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pt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144000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Executive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8288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127,596</a:t>
            </a:r>
          </a:p>
          <a:p>
            <a:pPr algn="ctr">
              <a:defRPr sz="1000">
                <a:solidFill>
                  <a:srgbClr val="94A3B8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79" y="1280160"/>
            <a:ext cx="18288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ptos Display"/>
              </a:defRPr>
            </a:pPr>
            <a:r>
              <a:t>68.27</a:t>
            </a:r>
          </a:p>
          <a:p>
            <a:pPr algn="ctr">
              <a:defRPr sz="1000">
                <a:solidFill>
                  <a:srgbClr val="94A3B8"/>
                </a:solidFill>
                <a:latin typeface="Aptos"/>
              </a:defRPr>
            </a:pPr>
            <a:r>
              <a:t>Health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280160"/>
            <a:ext cx="18288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ptos Display"/>
              </a:defRPr>
            </a:pPr>
            <a:r>
              <a:t>MEDIUM</a:t>
            </a:r>
          </a:p>
          <a:p>
            <a:pPr algn="ctr">
              <a:defRPr sz="1000">
                <a:solidFill>
                  <a:srgbClr val="94A3B8"/>
                </a:solidFill>
                <a:latin typeface="Aptos"/>
              </a:defRPr>
            </a:pPr>
            <a:r>
              <a:t>Risk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280160"/>
            <a:ext cx="18288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N02BE</a:t>
            </a:r>
          </a:p>
          <a:p>
            <a:pPr algn="ctr">
              <a:defRPr sz="1000">
                <a:solidFill>
                  <a:srgbClr val="94A3B8"/>
                </a:solidFill>
                <a:latin typeface="Aptos"/>
              </a:defRPr>
            </a:pPr>
            <a:r>
              <a:t>Top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400"/>
              </a:spcAft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KPI Parameters</a:t>
            </a:r>
          </a:p>
          <a:p>
            <a:pPr>
              <a:spcAft>
                <a:spcPts val="1200"/>
              </a:spcAft>
              <a:defRPr sz="1400">
                <a:latin typeface="Aptos"/>
              </a:defRPr>
            </a:pPr>
            <a:r>
              <a:rPr b="1">
                <a:solidFill>
                  <a:srgbClr val="38BDF8"/>
                </a:solidFill>
              </a:rPr>
              <a:t>Total Sales: </a:t>
            </a:r>
            <a:r>
              <a:rPr>
                <a:solidFill>
                  <a:srgbClr val="94A3B8"/>
                </a:solidFill>
              </a:rPr>
              <a:t>Total portfolio revenue generation metrics.</a:t>
            </a:r>
          </a:p>
          <a:p>
            <a:pPr>
              <a:spcAft>
                <a:spcPts val="1200"/>
              </a:spcAft>
              <a:defRPr sz="1400">
                <a:latin typeface="Aptos"/>
              </a:defRPr>
            </a:pPr>
            <a:r>
              <a:rPr b="1">
                <a:solidFill>
                  <a:srgbClr val="38BDF8"/>
                </a:solidFill>
              </a:rPr>
              <a:t>Health Score: </a:t>
            </a:r>
            <a:r>
              <a:rPr>
                <a:solidFill>
                  <a:srgbClr val="94A3B8"/>
                </a:solidFill>
              </a:rPr>
              <a:t>Risk-adjusted holistic operational strength metrics.</a:t>
            </a:r>
          </a:p>
          <a:p>
            <a:pPr>
              <a:spcAft>
                <a:spcPts val="1200"/>
              </a:spcAft>
              <a:defRPr sz="1400">
                <a:latin typeface="Aptos"/>
              </a:defRPr>
            </a:pPr>
            <a:r>
              <a:rPr b="1">
                <a:solidFill>
                  <a:srgbClr val="38BDF8"/>
                </a:solidFill>
              </a:rPr>
              <a:t>Risk Level: </a:t>
            </a:r>
            <a:r>
              <a:rPr>
                <a:solidFill>
                  <a:srgbClr val="94A3B8"/>
                </a:solidFill>
              </a:rPr>
              <a:t>Overall cumulative structural portfolio vulnerability exposure.</a:t>
            </a:r>
          </a:p>
          <a:p>
            <a:pPr>
              <a:spcAft>
                <a:spcPts val="1200"/>
              </a:spcAft>
              <a:defRPr sz="1400">
                <a:latin typeface="Aptos"/>
              </a:defRPr>
            </a:pPr>
            <a:r>
              <a:rPr b="1">
                <a:solidFill>
                  <a:srgbClr val="38BDF8"/>
                </a:solidFill>
              </a:rPr>
              <a:t>Top Category: </a:t>
            </a:r>
            <a:r>
              <a:rPr>
                <a:solidFill>
                  <a:srgbClr val="94A3B8"/>
                </a:solidFill>
              </a:rPr>
              <a:t>Primary high-volume therapeutic drug distribution matrix category.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36576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  <a:latin typeface="Aptos Display"/>
              </a:defRPr>
            </a:pPr>
            <a:r>
              <a:t>Revenue Dependency on N02BE</a:t>
            </a:r>
          </a:p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t>N02BE contributes 49.38% of total portfolio revenue, creating a critical dependency that limits resilience against market disruptions.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914400"/>
            <a:ext cx="36576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  <a:latin typeface="Aptos Display"/>
              </a:defRPr>
            </a:pPr>
            <a:r>
              <a:t>Growth Instability</a:t>
            </a:r>
          </a:p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t>Monthly sales volatility is 22.09%, indicating unstable demand patterns and forecasting challenges.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36576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  <a:latin typeface="Aptos Display"/>
              </a:defRPr>
            </a:pPr>
            <a:r>
              <a:t>Underperforming Category</a:t>
            </a:r>
          </a:p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t>N05C contributes 0.98% of total sales, highlighting inefficiencies in resource allocation and strategic focus.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834640"/>
            <a:ext cx="36576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  <a:latin typeface="Aptos Display"/>
              </a:defRPr>
            </a:pPr>
            <a:r>
              <a:t>Core Portfolio Insight</a:t>
            </a:r>
          </a:p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t>Driving resilient growth through portfolio optimization, risk mitigation, and operational excellence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Portfolio Sales Contribution</a:t>
            </a:r>
          </a:p>
        </p:txBody>
      </p:sp>
      <p:pic>
        <p:nvPicPr>
          <p:cNvPr id="3" name="Picture 2" descr="portfolio_sales_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32918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06640" y="1097280"/>
            <a:ext cx="14630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t>TOP CATEGORY</a:t>
            </a:r>
          </a:p>
          <a:p>
            <a:pPr>
              <a:defRPr sz="1100">
                <a:solidFill>
                  <a:srgbClr val="FFFFFF"/>
                </a:solidFill>
                <a:latin typeface="Aptos"/>
              </a:defRPr>
            </a:pPr>
          </a:p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t>N02BE</a:t>
            </a:r>
          </a:p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t>49.38%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2926080"/>
            <a:ext cx="14630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t>UNDERPERFORMER</a:t>
            </a:r>
          </a:p>
          <a:p>
            <a:pPr>
              <a:defRPr sz="1100">
                <a:solidFill>
                  <a:srgbClr val="FFFFFF"/>
                </a:solidFill>
                <a:latin typeface="Aptos"/>
              </a:defRPr>
            </a:pPr>
          </a:p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t>N05C</a:t>
            </a:r>
          </a:p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t>0.98%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38BDF8"/>
                </a:solidFill>
                <a:latin typeface="Aptos"/>
              </a:defRPr>
            </a:pPr>
            <a:r>
              <a:t>CORE BRIEF</a:t>
            </a:r>
          </a:p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Monthly sales volatility is 22.09%, indicating unstable demand patterns and forecasting challenges.</a:t>
            </a:r>
          </a:p>
          <a:p>
            <a:pPr>
              <a:spcBef>
                <a:spcPts val="800"/>
              </a:spcBef>
              <a:defRPr sz="1400" b="1">
                <a:solidFill>
                  <a:srgbClr val="38BDF8"/>
                </a:solidFill>
                <a:latin typeface="Aptos"/>
              </a:defRPr>
            </a:pPr>
            <a:r>
              <a:t>STRATEGIC OUTLOOK</a:t>
            </a:r>
          </a:p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High concentration in N02BE increases vulnerability to market disruptions and regulatory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Monthly Sales Growth Trend</a:t>
            </a:r>
          </a:p>
        </p:txBody>
      </p:sp>
      <p:pic>
        <p:nvPicPr>
          <p:cNvPr id="3" name="Picture 2" descr="monthly_sales_growth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5488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38BDF8"/>
                </a:solidFill>
                <a:latin typeface="Aptos"/>
              </a:defRPr>
            </a:pPr>
            <a:r>
              <a:t>CORE BRIEF</a:t>
            </a:r>
          </a:p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N05C contributes 0.98% of total sales, highlighting inefficiencies in resource allocation and strategic focus.</a:t>
            </a:r>
          </a:p>
          <a:p>
            <a:pPr>
              <a:spcBef>
                <a:spcPts val="800"/>
              </a:spcBef>
              <a:defRPr sz="1400" b="1">
                <a:solidFill>
                  <a:srgbClr val="38BDF8"/>
                </a:solidFill>
                <a:latin typeface="Aptos"/>
              </a:defRPr>
            </a:pPr>
            <a:r>
              <a:t>STRATEGIC OUTLOOK</a:t>
            </a:r>
          </a:p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High concentration risk increases vulnerability to regulatory changes, competitive pressures, and pricing reforms.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Portfolio Risk Dashboard</a:t>
            </a:r>
          </a:p>
        </p:txBody>
      </p:sp>
      <p:pic>
        <p:nvPicPr>
          <p:cNvPr id="3" name="Picture 2" descr="portfolio_risk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5488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38BDF8"/>
                </a:solidFill>
                <a:latin typeface="Aptos"/>
              </a:defRPr>
            </a:pPr>
            <a:r>
              <a:t>CORE BRIEF</a:t>
            </a:r>
          </a:p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Trend insights available. Please refer to the graphical interpretation.</a:t>
            </a:r>
          </a:p>
          <a:p>
            <a:pPr>
              <a:spcBef>
                <a:spcPts val="800"/>
              </a:spcBef>
              <a:defRPr sz="1400" b="1">
                <a:solidFill>
                  <a:srgbClr val="38BDF8"/>
                </a:solidFill>
                <a:latin typeface="Aptos"/>
              </a:defRPr>
            </a:pPr>
            <a:r>
              <a:t>STRATEGIC OUTLOOK</a:t>
            </a:r>
          </a:p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High concentration in N02BE increases vulnerability to market disruptions and regulatory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Strategic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77724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Implement portfolio diversification strategies by investing in adjacent therapeutic areas to reduce dependency on N02BE.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77724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Enhance demand forecasting and inventory optimization to stabilize sales volatility and improve operational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39"/>
            <a:ext cx="77724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Reallocate resources to high-potential categories, focusing on N05B and R03, which show higher growth potential.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Future Performance Outlook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0467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  <a:latin typeface="Aptos"/>
              </a:defRPr>
            </a:pPr>
            <a:r>
              <a:t>The portfolio's future hinges on strategic diversification, improved forecasting, and efficient resource allocation. By addressing concentration risks and optimizing underperforming categories, the portfolio can achieve greater resilience and long-term growth potential. Continuous monitoring and agile adjustments will be critical to navigating market dynamics and maintaining competitive advantage.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22860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  <a:latin typeface="Aptos Display"/>
              </a:defRPr>
            </a:pPr>
            <a:r>
              <a:t>MODERATE</a:t>
            </a:r>
          </a:p>
          <a:p>
            <a:pPr algn="ctr">
              <a:defRPr sz="1100">
                <a:solidFill>
                  <a:srgbClr val="94A3B8"/>
                </a:solidFill>
                <a:latin typeface="Aptos"/>
              </a:defRPr>
            </a:pPr>
            <a:r>
              <a:t>Risk Outlook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3657600"/>
            <a:ext cx="22860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  <a:latin typeface="Aptos Display"/>
              </a:defRPr>
            </a:pPr>
            <a:r>
              <a:t>STABLE</a:t>
            </a:r>
          </a:p>
          <a:p>
            <a:pPr algn="ctr">
              <a:defRPr sz="1100">
                <a:solidFill>
                  <a:srgbClr val="94A3B8"/>
                </a:solidFill>
                <a:latin typeface="Aptos"/>
              </a:defRPr>
            </a:pPr>
            <a:r>
              <a:t>Revenue Stability Forecast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657600"/>
            <a:ext cx="22860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  <a:latin typeface="Aptos Display"/>
              </a:defRPr>
            </a:pPr>
            <a:r>
              <a:t>MODERATE</a:t>
            </a:r>
          </a:p>
          <a:p>
            <a:pPr algn="ctr">
              <a:defRPr sz="1100">
                <a:solidFill>
                  <a:srgbClr val="94A3B8"/>
                </a:solidFill>
                <a:latin typeface="Aptos"/>
              </a:defRPr>
            </a:pPr>
            <a:r>
              <a:t>Portfolio Resiliency Index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8BDF8"/>
                </a:solidFill>
                <a:latin typeface="Aptos Display"/>
              </a:defRPr>
            </a:pPr>
            <a:r>
              <a:t>Thank You</a:t>
            </a:r>
          </a:p>
          <a:p>
            <a:pPr algn="ctr">
              <a:defRPr sz="1600">
                <a:solidFill>
                  <a:srgbClr val="94A3B8"/>
                </a:solidFill>
                <a:latin typeface="Aptos"/>
              </a:defRPr>
            </a:pPr>
            <a:r>
              <a:t>Strategic Planning &amp; Executive Advisory Operations</a:t>
            </a:r>
          </a:p>
        </p:txBody>
      </p:sp>
      <p:pic>
        <p:nvPicPr>
          <p:cNvPr id="3" name="Picture 2" descr="who-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74720"/>
            <a:ext cx="2011680" cy="17748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